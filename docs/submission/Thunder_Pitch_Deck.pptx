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UNDER_MASTER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520440" cy="3246120"/>
          </a:xfrm>
          <a:prstGeom prst="ellipse">
            <a:avLst/>
          </a:prstGeom>
          <a:solidFill>
            <a:srgbClr val="2FB5FF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7232" y="4590288"/>
            <a:ext cx="2331720" cy="2267712"/>
          </a:xfrm>
          <a:prstGeom prst="ellipse">
            <a:avLst/>
          </a:prstGeom>
          <a:solidFill>
            <a:srgbClr val="FFC857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329184"/>
            <a:ext cx="11365992" cy="0"/>
          </a:xfrm>
          <a:prstGeom prst="line">
            <a:avLst/>
          </a:prstGeom>
          <a:noFill/>
          <a:ln w="12700">
            <a:solidFill>
              <a:srgbClr val="2542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912" y="10972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005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THUNDER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874520" y="10972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292840" y="914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74980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Creators only learn after they publish.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594360" y="1572768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LinkedIn and Instagram educators with 10k-100k followers, one misunderstood post can cost trust, reach, and hours of recovery.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2761488"/>
            <a:ext cx="1572768" cy="932688"/>
          </a:xfrm>
          <a:prstGeom prst="roundRect">
            <a:avLst>
              <a:gd name="adj" fmla="val 10784"/>
            </a:avLst>
          </a:prstGeom>
          <a:solidFill>
            <a:srgbClr val="132A42"/>
          </a:solidFill>
          <a:ln w="15240">
            <a:solidFill>
              <a:srgbClr val="2542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" y="2926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04088" y="319125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Looks good internally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2194560" y="3099816"/>
            <a:ext cx="310896" cy="256032"/>
          </a:xfrm>
          <a:prstGeom prst="chevron">
            <a:avLst/>
          </a:prstGeom>
          <a:solidFill>
            <a:srgbClr val="2542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78608" y="2761488"/>
            <a:ext cx="1572768" cy="932688"/>
          </a:xfrm>
          <a:prstGeom prst="roundRect">
            <a:avLst>
              <a:gd name="adj" fmla="val 10784"/>
            </a:avLst>
          </a:prstGeom>
          <a:solidFill>
            <a:srgbClr val="132A42"/>
          </a:solidFill>
          <a:ln w="15240">
            <a:solidFill>
              <a:srgbClr val="2542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15768" y="2926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715768" y="319125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pre-flight signal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4206240" y="3099816"/>
            <a:ext cx="310896" cy="256032"/>
          </a:xfrm>
          <a:prstGeom prst="chevron">
            <a:avLst/>
          </a:prstGeom>
          <a:solidFill>
            <a:srgbClr val="FF6B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90288" y="2761488"/>
            <a:ext cx="1572768" cy="932688"/>
          </a:xfrm>
          <a:prstGeom prst="roundRect">
            <a:avLst>
              <a:gd name="adj" fmla="val 10784"/>
            </a:avLst>
          </a:prstGeom>
          <a:solidFill>
            <a:srgbClr val="3A1A27"/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27448" y="2926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FEEDBACK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727448" y="319125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+ backlash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6217920" y="3099816"/>
            <a:ext cx="310896" cy="256032"/>
          </a:xfrm>
          <a:prstGeom prst="chevron">
            <a:avLst/>
          </a:prstGeom>
          <a:solidFill>
            <a:srgbClr val="2542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601968" y="2761488"/>
            <a:ext cx="1572768" cy="932688"/>
          </a:xfrm>
          <a:prstGeom prst="roundRect">
            <a:avLst>
              <a:gd name="adj" fmla="val 10784"/>
            </a:avLst>
          </a:prstGeom>
          <a:solidFill>
            <a:srgbClr val="132A42"/>
          </a:solidFill>
          <a:ln w="15240">
            <a:solidFill>
              <a:srgbClr val="25425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39128" y="2926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REWRITE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739128" y="319125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after the damage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585216" y="4050792"/>
            <a:ext cx="7223760" cy="310896"/>
          </a:xfrm>
          <a:prstGeom prst="roundRect">
            <a:avLst>
              <a:gd name="adj" fmla="val 23529"/>
            </a:avLst>
          </a:prstGeom>
          <a:solidFill>
            <a:srgbClr val="271F14"/>
          </a:solidFill>
          <a:ln w="12700">
            <a:solidFill>
              <a:srgbClr val="FFC857">
                <a:alpha val="5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8368" y="4114800"/>
            <a:ext cx="7077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missing step: a pre-publication audience test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8275320" y="868680"/>
            <a:ext cx="3319272" cy="5148072"/>
          </a:xfrm>
          <a:prstGeom prst="roundRect">
            <a:avLst>
              <a:gd name="adj" fmla="val 3030"/>
            </a:avLst>
          </a:prstGeom>
          <a:solidFill>
            <a:srgbClr val="0B1728"/>
          </a:solidFill>
          <a:ln w="15240">
            <a:solidFill>
              <a:srgbClr val="25425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4000"/>
              </a:srgbClr>
            </a:outerShdw>
          </a:effectLst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2016" y="1024128"/>
            <a:ext cx="1417320" cy="14173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622792" y="26243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audience data already exists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8622792" y="30175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is trapped inside comments.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8549640" y="3639312"/>
            <a:ext cx="73152" cy="73152"/>
          </a:xfrm>
          <a:prstGeom prst="ellipse">
            <a:avLst/>
          </a:prstGeom>
          <a:solidFill>
            <a:srgbClr val="61E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714232" y="3566160"/>
            <a:ext cx="2505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Generic AI writes for “an audience,” not your audience.</a:t>
            </a:r>
            <a:endParaRPr lang="en-US" sz="1040" dirty="0"/>
          </a:p>
        </p:txBody>
      </p:sp>
      <p:sp>
        <p:nvSpPr>
          <p:cNvPr id="35" name="Shape 31"/>
          <p:cNvSpPr/>
          <p:nvPr/>
        </p:nvSpPr>
        <p:spPr>
          <a:xfrm>
            <a:off x="8549640" y="4233672"/>
            <a:ext cx="73152" cy="7315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714232" y="4160520"/>
            <a:ext cx="2505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arrive after the risk.</a:t>
            </a:r>
            <a:endParaRPr lang="en-US" sz="1040" dirty="0"/>
          </a:p>
        </p:txBody>
      </p:sp>
      <p:sp>
        <p:nvSpPr>
          <p:cNvPr id="37" name="Shape 33"/>
          <p:cNvSpPr/>
          <p:nvPr/>
        </p:nvSpPr>
        <p:spPr>
          <a:xfrm>
            <a:off x="8549640" y="4828032"/>
            <a:ext cx="73152" cy="7315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8714232" y="4754880"/>
            <a:ext cx="2505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 stay unstructured and unused.</a:t>
            </a:r>
            <a:endParaRPr lang="en-US" sz="1040" dirty="0"/>
          </a:p>
        </p:txBody>
      </p:sp>
      <p:sp>
        <p:nvSpPr>
          <p:cNvPr id="39" name="Text 35"/>
          <p:cNvSpPr/>
          <p:nvPr/>
        </p:nvSpPr>
        <p:spPr>
          <a:xfrm>
            <a:off x="8622792" y="55321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today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8622792" y="5760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→ wait → learn publicly</a:t>
            </a:r>
            <a:endParaRPr lang="en-US" sz="1350" dirty="0"/>
          </a:p>
        </p:txBody>
      </p:sp>
      <p:sp>
        <p:nvSpPr>
          <p:cNvPr id="41" name="Text 37"/>
          <p:cNvSpPr/>
          <p:nvPr/>
        </p:nvSpPr>
        <p:spPr>
          <a:xfrm>
            <a:off x="530352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CURSOR HACKATHON STUTTGART ·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520440" cy="3246120"/>
          </a:xfrm>
          <a:prstGeom prst="ellipse">
            <a:avLst/>
          </a:prstGeom>
          <a:solidFill>
            <a:srgbClr val="2FB5FF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7232" y="4590288"/>
            <a:ext cx="2331720" cy="2267712"/>
          </a:xfrm>
          <a:prstGeom prst="ellipse">
            <a:avLst/>
          </a:prstGeom>
          <a:solidFill>
            <a:srgbClr val="FFC857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329184"/>
            <a:ext cx="11365992" cy="0"/>
          </a:xfrm>
          <a:prstGeom prst="line">
            <a:avLst/>
          </a:prstGeom>
          <a:noFill/>
          <a:ln w="12700">
            <a:solidFill>
              <a:srgbClr val="2542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912" y="10972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005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THUNDER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874520" y="10972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292840" y="914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30352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Thunder is an audience pre-flight lab.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48640" y="129844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converts real historical comments into a reusable audience model, tests a draft across three independent AI jurors, and rewrites it before publication.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2057400"/>
            <a:ext cx="1783080" cy="1243584"/>
          </a:xfrm>
          <a:prstGeom prst="roundRect">
            <a:avLst>
              <a:gd name="adj" fmla="val 8088"/>
            </a:avLst>
          </a:prstGeom>
          <a:solidFill>
            <a:srgbClr val="0E2033"/>
          </a:solidFill>
          <a:ln w="15240">
            <a:solidFill>
              <a:srgbClr val="2542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" y="2167128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30936" y="2459736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630936" y="2770632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audience evidence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2313432" y="2542032"/>
            <a:ext cx="109728" cy="228600"/>
          </a:xfrm>
          <a:prstGeom prst="chevron">
            <a:avLst/>
          </a:prstGeom>
          <a:solidFill>
            <a:srgbClr val="2FB5FF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414016" y="2057400"/>
            <a:ext cx="1783080" cy="1243584"/>
          </a:xfrm>
          <a:prstGeom prst="roundRect">
            <a:avLst>
              <a:gd name="adj" fmla="val 8088"/>
            </a:avLst>
          </a:prstGeom>
          <a:solidFill>
            <a:srgbClr val="0E2033"/>
          </a:solidFill>
          <a:ln w="15240">
            <a:solidFill>
              <a:srgbClr val="2542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42032" y="2167128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542032" y="2459736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 TWIN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2542032" y="2770632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grounded segments</a:t>
            </a:r>
            <a:endParaRPr lang="en-US" sz="870" dirty="0"/>
          </a:p>
        </p:txBody>
      </p:sp>
      <p:sp>
        <p:nvSpPr>
          <p:cNvPr id="21" name="Shape 18"/>
          <p:cNvSpPr/>
          <p:nvPr/>
        </p:nvSpPr>
        <p:spPr>
          <a:xfrm>
            <a:off x="4224528" y="2542032"/>
            <a:ext cx="109728" cy="228600"/>
          </a:xfrm>
          <a:prstGeom prst="chevron">
            <a:avLst/>
          </a:prstGeom>
          <a:solidFill>
            <a:srgbClr val="2FB5FF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325112" y="2057400"/>
            <a:ext cx="1783080" cy="1243584"/>
          </a:xfrm>
          <a:prstGeom prst="roundRect">
            <a:avLst>
              <a:gd name="adj" fmla="val 8088"/>
            </a:avLst>
          </a:prstGeom>
          <a:solidFill>
            <a:srgbClr val="102C3D"/>
          </a:solidFill>
          <a:ln w="15240">
            <a:solidFill>
              <a:srgbClr val="61E7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53128" y="2167128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453128" y="2459736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JURY</a:t>
            </a:r>
            <a:endParaRPr lang="en-US" sz="1020" dirty="0"/>
          </a:p>
        </p:txBody>
      </p:sp>
      <p:sp>
        <p:nvSpPr>
          <p:cNvPr id="25" name="Text 22"/>
          <p:cNvSpPr/>
          <p:nvPr/>
        </p:nvSpPr>
        <p:spPr>
          <a:xfrm>
            <a:off x="4453128" y="2770632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independent reactions</a:t>
            </a:r>
            <a:endParaRPr lang="en-US" sz="870" dirty="0"/>
          </a:p>
        </p:txBody>
      </p:sp>
      <p:sp>
        <p:nvSpPr>
          <p:cNvPr id="26" name="Shape 23"/>
          <p:cNvSpPr/>
          <p:nvPr/>
        </p:nvSpPr>
        <p:spPr>
          <a:xfrm>
            <a:off x="6135624" y="2542032"/>
            <a:ext cx="109728" cy="228600"/>
          </a:xfrm>
          <a:prstGeom prst="chevron">
            <a:avLst/>
          </a:prstGeom>
          <a:solidFill>
            <a:srgbClr val="2FB5FF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36208" y="2057400"/>
            <a:ext cx="1783080" cy="1243584"/>
          </a:xfrm>
          <a:prstGeom prst="roundRect">
            <a:avLst>
              <a:gd name="adj" fmla="val 8088"/>
            </a:avLst>
          </a:prstGeom>
          <a:solidFill>
            <a:srgbClr val="0E2033"/>
          </a:solidFill>
          <a:ln w="15240">
            <a:solidFill>
              <a:srgbClr val="25425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64224" y="2167128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364224" y="2459736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 + SCORES</a:t>
            </a:r>
            <a:endParaRPr lang="en-US" sz="1020" dirty="0"/>
          </a:p>
        </p:txBody>
      </p:sp>
      <p:sp>
        <p:nvSpPr>
          <p:cNvPr id="30" name="Text 27"/>
          <p:cNvSpPr/>
          <p:nvPr/>
        </p:nvSpPr>
        <p:spPr>
          <a:xfrm>
            <a:off x="6364224" y="2770632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 + calculate</a:t>
            </a:r>
            <a:endParaRPr lang="en-US" sz="870" dirty="0"/>
          </a:p>
        </p:txBody>
      </p:sp>
      <p:sp>
        <p:nvSpPr>
          <p:cNvPr id="31" name="Shape 28"/>
          <p:cNvSpPr/>
          <p:nvPr/>
        </p:nvSpPr>
        <p:spPr>
          <a:xfrm>
            <a:off x="8046720" y="2542032"/>
            <a:ext cx="109728" cy="228600"/>
          </a:xfrm>
          <a:prstGeom prst="chevron">
            <a:avLst/>
          </a:prstGeom>
          <a:solidFill>
            <a:srgbClr val="2FB5FF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147304" y="2057400"/>
            <a:ext cx="1783080" cy="1243584"/>
          </a:xfrm>
          <a:prstGeom prst="roundRect">
            <a:avLst>
              <a:gd name="adj" fmla="val 8088"/>
            </a:avLst>
          </a:prstGeom>
          <a:solidFill>
            <a:srgbClr val="0E2033"/>
          </a:solidFill>
          <a:ln w="15240">
            <a:solidFill>
              <a:srgbClr val="25425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75320" y="2167128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8275320" y="2459736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CAROUSEL</a:t>
            </a:r>
            <a:endParaRPr lang="en-US" sz="1020" dirty="0"/>
          </a:p>
        </p:txBody>
      </p:sp>
      <p:sp>
        <p:nvSpPr>
          <p:cNvPr id="35" name="Text 32"/>
          <p:cNvSpPr/>
          <p:nvPr/>
        </p:nvSpPr>
        <p:spPr>
          <a:xfrm>
            <a:off x="8275320" y="2770632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5-slide rewrite</a:t>
            </a:r>
            <a:endParaRPr lang="en-US" sz="870" dirty="0"/>
          </a:p>
        </p:txBody>
      </p:sp>
      <p:sp>
        <p:nvSpPr>
          <p:cNvPr id="36" name="Shape 33"/>
          <p:cNvSpPr/>
          <p:nvPr/>
        </p:nvSpPr>
        <p:spPr>
          <a:xfrm>
            <a:off x="9957816" y="2542032"/>
            <a:ext cx="109728" cy="228600"/>
          </a:xfrm>
          <a:prstGeom prst="chevron">
            <a:avLst/>
          </a:prstGeom>
          <a:solidFill>
            <a:srgbClr val="2FB5FF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058400" y="2057400"/>
            <a:ext cx="1783080" cy="1243584"/>
          </a:xfrm>
          <a:prstGeom prst="roundRect">
            <a:avLst>
              <a:gd name="adj" fmla="val 8088"/>
            </a:avLst>
          </a:prstGeom>
          <a:solidFill>
            <a:srgbClr val="0E2033"/>
          </a:solidFill>
          <a:ln w="15240">
            <a:solidFill>
              <a:srgbClr val="25425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186416" y="2167128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10186416" y="2459736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</a:t>
            </a:r>
            <a:endParaRPr lang="en-US" sz="1020" dirty="0"/>
          </a:p>
        </p:txBody>
      </p:sp>
      <p:sp>
        <p:nvSpPr>
          <p:cNvPr id="40" name="Text 37"/>
          <p:cNvSpPr/>
          <p:nvPr/>
        </p:nvSpPr>
        <p:spPr>
          <a:xfrm>
            <a:off x="10186416" y="2770632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→ n8n</a:t>
            </a:r>
            <a:endParaRPr lang="en-US" sz="870" dirty="0"/>
          </a:p>
        </p:txBody>
      </p:sp>
      <p:sp>
        <p:nvSpPr>
          <p:cNvPr id="41" name="Text 38"/>
          <p:cNvSpPr/>
          <p:nvPr/>
        </p:nvSpPr>
        <p:spPr>
          <a:xfrm>
            <a:off x="566928" y="36758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5" kern="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IS 10× BETTER THAN A GENERIC CHAT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566928" y="4023360"/>
            <a:ext cx="3401568" cy="1481328"/>
          </a:xfrm>
          <a:prstGeom prst="roundRect">
            <a:avLst>
              <a:gd name="adj" fmla="val 6790"/>
            </a:avLst>
          </a:prstGeom>
          <a:solidFill>
            <a:srgbClr val="0B1728"/>
          </a:solidFill>
          <a:ln w="15240">
            <a:solidFill>
              <a:srgbClr val="61E7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13232" y="4187952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0B1728"/>
          </a:solidFill>
          <a:ln w="12700">
            <a:solidFill>
              <a:srgbClr val="61E7FF">
                <a:alpha val="55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86384" y="425196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713232" y="46085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Grounded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13232" y="4956048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audience segment links back to real comment IDs.</a:t>
            </a:r>
            <a:endParaRPr lang="en-US" sz="1020" dirty="0"/>
          </a:p>
        </p:txBody>
      </p:sp>
      <p:sp>
        <p:nvSpPr>
          <p:cNvPr id="47" name="Shape 44"/>
          <p:cNvSpPr/>
          <p:nvPr/>
        </p:nvSpPr>
        <p:spPr>
          <a:xfrm>
            <a:off x="4297680" y="4023360"/>
            <a:ext cx="3401568" cy="1481328"/>
          </a:xfrm>
          <a:prstGeom prst="roundRect">
            <a:avLst>
              <a:gd name="adj" fmla="val 6790"/>
            </a:avLst>
          </a:prstGeom>
          <a:solidFill>
            <a:srgbClr val="0B1728"/>
          </a:solidFill>
          <a:ln w="15240">
            <a:solidFill>
              <a:srgbClr val="FFC857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443984" y="4187952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0B1728"/>
          </a:solidFill>
          <a:ln w="12700">
            <a:solidFill>
              <a:srgbClr val="FFC857">
                <a:alpha val="55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517136" y="425196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TEST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443984" y="46085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Adversarial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4443984" y="4956048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Jurors disagree; a critic challenges claims and assumptions.</a:t>
            </a:r>
            <a:endParaRPr lang="en-US" sz="1020" dirty="0"/>
          </a:p>
        </p:txBody>
      </p:sp>
      <p:sp>
        <p:nvSpPr>
          <p:cNvPr id="52" name="Shape 49"/>
          <p:cNvSpPr/>
          <p:nvPr/>
        </p:nvSpPr>
        <p:spPr>
          <a:xfrm>
            <a:off x="8028432" y="4023360"/>
            <a:ext cx="3401568" cy="1481328"/>
          </a:xfrm>
          <a:prstGeom prst="roundRect">
            <a:avLst>
              <a:gd name="adj" fmla="val 6790"/>
            </a:avLst>
          </a:prstGeom>
          <a:solidFill>
            <a:srgbClr val="0B1728"/>
          </a:solidFill>
          <a:ln w="15240">
            <a:solidFill>
              <a:srgbClr val="5FE0A5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174736" y="4187952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0B1728"/>
          </a:solidFill>
          <a:ln w="12700">
            <a:solidFill>
              <a:srgbClr val="5FE0A5">
                <a:alpha val="5500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247888" y="425196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E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8174736" y="46085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Measurable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8174736" y="4956048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 formulas calculate before/after diagnostics.</a:t>
            </a:r>
            <a:endParaRPr lang="en-US" sz="1020" dirty="0"/>
          </a:p>
        </p:txBody>
      </p:sp>
      <p:sp>
        <p:nvSpPr>
          <p:cNvPr id="57" name="Text 54"/>
          <p:cNvSpPr/>
          <p:nvPr/>
        </p:nvSpPr>
        <p:spPr>
          <a:xfrm>
            <a:off x="594360" y="5806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sentence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1572768" y="57150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“Test your post before your audience does.”</a:t>
            </a:r>
            <a:endParaRPr lang="en-US" sz="1500" dirty="0"/>
          </a:p>
        </p:txBody>
      </p:sp>
      <p:sp>
        <p:nvSpPr>
          <p:cNvPr id="59" name="Text 56"/>
          <p:cNvSpPr/>
          <p:nvPr/>
        </p:nvSpPr>
        <p:spPr>
          <a:xfrm>
            <a:off x="530352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CURSOR HACKATHON STUTTGART ·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520440" cy="3246120"/>
          </a:xfrm>
          <a:prstGeom prst="ellipse">
            <a:avLst/>
          </a:prstGeom>
          <a:solidFill>
            <a:srgbClr val="2FB5FF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7232" y="4590288"/>
            <a:ext cx="2331720" cy="2267712"/>
          </a:xfrm>
          <a:prstGeom prst="ellipse">
            <a:avLst/>
          </a:prstGeom>
          <a:solidFill>
            <a:srgbClr val="FFC857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329184"/>
            <a:ext cx="11365992" cy="0"/>
          </a:xfrm>
          <a:prstGeom prst="line">
            <a:avLst/>
          </a:prstGeom>
          <a:noFill/>
          <a:ln w="12700">
            <a:solidFill>
              <a:srgbClr val="2542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912" y="10972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005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THUNDER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874520" y="10972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OUTPUT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292840" y="914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30352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weak draft. Three audiences. One safer carousel.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48640" y="129844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seeded creator example from the current Thunder workflow.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1783080"/>
            <a:ext cx="3703320" cy="1152144"/>
          </a:xfrm>
          <a:prstGeom prst="roundRect">
            <a:avLst>
              <a:gd name="adj" fmla="val 8730"/>
            </a:avLst>
          </a:prstGeom>
          <a:solidFill>
            <a:srgbClr val="2B1720"/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" y="197510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ORIGINAL HOOK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58952" y="227685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“Post every day or you will never grow.”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389120" y="2185416"/>
            <a:ext cx="411480" cy="329184"/>
          </a:xfrm>
          <a:prstGeom prst="chevron">
            <a:avLst/>
          </a:prstGeom>
          <a:solidFill>
            <a:srgbClr val="61E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92040" y="1783080"/>
            <a:ext cx="6711696" cy="1152144"/>
          </a:xfrm>
          <a:prstGeom prst="roundRect">
            <a:avLst>
              <a:gd name="adj" fmla="val 8730"/>
            </a:avLst>
          </a:prstGeom>
          <a:solidFill>
            <a:srgbClr val="0E2B38"/>
          </a:solidFill>
          <a:ln w="15240">
            <a:solidFill>
              <a:srgbClr val="61E7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02352" y="1975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HOOK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102352" y="2240280"/>
            <a:ext cx="6172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“You don’t need to post every day. You need a system that survives a full-time job.”</a:t>
            </a:r>
            <a:endParaRPr lang="en-US" sz="1420" dirty="0"/>
          </a:p>
        </p:txBody>
      </p:sp>
      <p:sp>
        <p:nvSpPr>
          <p:cNvPr id="19" name="Shape 16"/>
          <p:cNvSpPr/>
          <p:nvPr/>
        </p:nvSpPr>
        <p:spPr>
          <a:xfrm>
            <a:off x="566928" y="3236976"/>
            <a:ext cx="2971800" cy="1481328"/>
          </a:xfrm>
          <a:prstGeom prst="roundRect">
            <a:avLst>
              <a:gd name="adj" fmla="val 6790"/>
            </a:avLst>
          </a:prstGeom>
          <a:solidFill>
            <a:srgbClr val="0E2033"/>
          </a:solidFill>
          <a:ln w="15240">
            <a:solidFill>
              <a:srgbClr val="61E7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" y="34015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 JUROR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13232" y="36850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Quiet Beginners</a:t>
            </a:r>
            <a:endParaRPr lang="en-US" sz="1330" dirty="0"/>
          </a:p>
        </p:txBody>
      </p:sp>
      <p:sp>
        <p:nvSpPr>
          <p:cNvPr id="22" name="Text 19"/>
          <p:cNvSpPr/>
          <p:nvPr/>
        </p:nvSpPr>
        <p:spPr>
          <a:xfrm>
            <a:off x="713232" y="398678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a gentle first step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13232" y="4279392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Feels shaming; likely to skip</a:t>
            </a:r>
            <a:endParaRPr lang="en-US" sz="920" dirty="0"/>
          </a:p>
        </p:txBody>
      </p:sp>
      <p:sp>
        <p:nvSpPr>
          <p:cNvPr id="24" name="Text 21"/>
          <p:cNvSpPr/>
          <p:nvPr/>
        </p:nvSpPr>
        <p:spPr>
          <a:xfrm>
            <a:off x="713232" y="4572000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 · C02 · C07 · C12</a:t>
            </a:r>
            <a:endParaRPr lang="en-US" sz="730" dirty="0"/>
          </a:p>
        </p:txBody>
      </p:sp>
      <p:sp>
        <p:nvSpPr>
          <p:cNvPr id="25" name="Shape 22"/>
          <p:cNvSpPr/>
          <p:nvPr/>
        </p:nvSpPr>
        <p:spPr>
          <a:xfrm>
            <a:off x="3813048" y="3236976"/>
            <a:ext cx="2971800" cy="1481328"/>
          </a:xfrm>
          <a:prstGeom prst="roundRect">
            <a:avLst>
              <a:gd name="adj" fmla="val 6790"/>
            </a:avLst>
          </a:prstGeom>
          <a:solidFill>
            <a:srgbClr val="0E2033"/>
          </a:solidFill>
          <a:ln w="15240">
            <a:solidFill>
              <a:srgbClr val="FFC85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959352" y="34015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 JUROR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959352" y="36850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Busy Professionals</a:t>
            </a:r>
            <a:endParaRPr lang="en-US" sz="1330" dirty="0"/>
          </a:p>
        </p:txBody>
      </p:sp>
      <p:sp>
        <p:nvSpPr>
          <p:cNvPr id="28" name="Text 25"/>
          <p:cNvSpPr/>
          <p:nvPr/>
        </p:nvSpPr>
        <p:spPr>
          <a:xfrm>
            <a:off x="3959352" y="398678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a 20-minute system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3959352" y="4279392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Relevant, but too vague</a:t>
            </a:r>
            <a:endParaRPr lang="en-US" sz="920" dirty="0"/>
          </a:p>
        </p:txBody>
      </p:sp>
      <p:sp>
        <p:nvSpPr>
          <p:cNvPr id="30" name="Text 27"/>
          <p:cNvSpPr/>
          <p:nvPr/>
        </p:nvSpPr>
        <p:spPr>
          <a:xfrm>
            <a:off x="3959352" y="4572000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 · C06 · C08 · C13 · C15</a:t>
            </a:r>
            <a:endParaRPr lang="en-US" sz="730" dirty="0"/>
          </a:p>
        </p:txBody>
      </p:sp>
      <p:sp>
        <p:nvSpPr>
          <p:cNvPr id="31" name="Shape 28"/>
          <p:cNvSpPr/>
          <p:nvPr/>
        </p:nvSpPr>
        <p:spPr>
          <a:xfrm>
            <a:off x="7059168" y="3236976"/>
            <a:ext cx="2971800" cy="1481328"/>
          </a:xfrm>
          <a:prstGeom prst="roundRect">
            <a:avLst>
              <a:gd name="adj" fmla="val 6790"/>
            </a:avLst>
          </a:prstGeom>
          <a:solidFill>
            <a:srgbClr val="0E2033"/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05472" y="34015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 JUROR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205472" y="36850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Hustle Skeptics</a:t>
            </a:r>
            <a:endParaRPr lang="en-US" sz="1330" dirty="0"/>
          </a:p>
        </p:txBody>
      </p:sp>
      <p:sp>
        <p:nvSpPr>
          <p:cNvPr id="34" name="Text 31"/>
          <p:cNvSpPr/>
          <p:nvPr/>
        </p:nvSpPr>
        <p:spPr>
          <a:xfrm>
            <a:off x="7205472" y="398678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nuance and rest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7205472" y="4279392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Will challenge the absolutes</a:t>
            </a:r>
            <a:endParaRPr lang="en-US" sz="920" dirty="0"/>
          </a:p>
        </p:txBody>
      </p:sp>
      <p:sp>
        <p:nvSpPr>
          <p:cNvPr id="36" name="Text 33"/>
          <p:cNvSpPr/>
          <p:nvPr/>
        </p:nvSpPr>
        <p:spPr>
          <a:xfrm>
            <a:off x="7205472" y="4572000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C04 · C05 · C09 · C10 · C11 · C14</a:t>
            </a:r>
            <a:endParaRPr lang="en-US" sz="730" dirty="0"/>
          </a:p>
        </p:txBody>
      </p:sp>
      <p:sp>
        <p:nvSpPr>
          <p:cNvPr id="37" name="Shape 34"/>
          <p:cNvSpPr/>
          <p:nvPr/>
        </p:nvSpPr>
        <p:spPr>
          <a:xfrm>
            <a:off x="10314432" y="3236976"/>
            <a:ext cx="1289304" cy="2670048"/>
          </a:xfrm>
          <a:prstGeom prst="roundRect">
            <a:avLst>
              <a:gd name="adj" fmla="val 7801"/>
            </a:avLst>
          </a:prstGeom>
          <a:solidFill>
            <a:srgbClr val="0B1728"/>
          </a:solidFill>
          <a:ln w="15240">
            <a:solidFill>
              <a:srgbClr val="25425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497312" y="342900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5FE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SCORES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10488168" y="374904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</a:t>
            </a:r>
            <a:endParaRPr lang="en-US" sz="760" dirty="0"/>
          </a:p>
        </p:txBody>
      </p:sp>
      <p:sp>
        <p:nvSpPr>
          <p:cNvPr id="40" name="Text 37"/>
          <p:cNvSpPr/>
          <p:nvPr/>
        </p:nvSpPr>
        <p:spPr>
          <a:xfrm>
            <a:off x="10936224" y="374904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11155680" y="374904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11311128" y="374904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10488168" y="414223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Clarity</a:t>
            </a:r>
            <a:endParaRPr lang="en-US" sz="760" dirty="0"/>
          </a:p>
        </p:txBody>
      </p:sp>
      <p:sp>
        <p:nvSpPr>
          <p:cNvPr id="44" name="Text 41"/>
          <p:cNvSpPr/>
          <p:nvPr/>
        </p:nvSpPr>
        <p:spPr>
          <a:xfrm>
            <a:off x="10936224" y="414223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11155680" y="414223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1311128" y="414223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10488168" y="453542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</a:t>
            </a:r>
            <a:endParaRPr lang="en-US" sz="760" dirty="0"/>
          </a:p>
        </p:txBody>
      </p:sp>
      <p:sp>
        <p:nvSpPr>
          <p:cNvPr id="48" name="Text 45"/>
          <p:cNvSpPr/>
          <p:nvPr/>
        </p:nvSpPr>
        <p:spPr>
          <a:xfrm>
            <a:off x="10936224" y="45354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11155680" y="4535424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11311128" y="45354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10488168" y="49286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</a:t>
            </a:r>
            <a:endParaRPr lang="en-US" sz="760" dirty="0"/>
          </a:p>
        </p:txBody>
      </p:sp>
      <p:sp>
        <p:nvSpPr>
          <p:cNvPr id="52" name="Text 49"/>
          <p:cNvSpPr/>
          <p:nvPr/>
        </p:nvSpPr>
        <p:spPr>
          <a:xfrm>
            <a:off x="10936224" y="49286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11155680" y="492861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11311128" y="49286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10488168" y="53218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760" dirty="0"/>
          </a:p>
        </p:txBody>
      </p:sp>
      <p:sp>
        <p:nvSpPr>
          <p:cNvPr id="56" name="Text 53"/>
          <p:cNvSpPr/>
          <p:nvPr/>
        </p:nvSpPr>
        <p:spPr>
          <a:xfrm>
            <a:off x="10936224" y="532180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11155680" y="532180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11311128" y="532180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FE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0497312" y="5687568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FE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↓ is better</a:t>
            </a:r>
            <a:endParaRPr lang="en-US" sz="710" dirty="0"/>
          </a:p>
        </p:txBody>
      </p:sp>
      <p:sp>
        <p:nvSpPr>
          <p:cNvPr id="60" name="Text 57"/>
          <p:cNvSpPr/>
          <p:nvPr/>
        </p:nvSpPr>
        <p:spPr>
          <a:xfrm>
            <a:off x="566928" y="50749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5-SLIDE CAROUSEL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566928" y="5394960"/>
            <a:ext cx="1700784" cy="603504"/>
          </a:xfrm>
          <a:prstGeom prst="roundRect">
            <a:avLst>
              <a:gd name="adj" fmla="val 16667"/>
            </a:avLst>
          </a:prstGeom>
          <a:solidFill>
            <a:srgbClr val="0E2B38"/>
          </a:solidFill>
          <a:ln w="15240">
            <a:solidFill>
              <a:srgbClr val="61E7FF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76656" y="5532120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932688" y="5477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Consistency ≠ daily</a:t>
            </a:r>
            <a:endParaRPr lang="en-US" sz="820" dirty="0"/>
          </a:p>
        </p:txBody>
      </p:sp>
      <p:sp>
        <p:nvSpPr>
          <p:cNvPr id="64" name="Shape 61"/>
          <p:cNvSpPr/>
          <p:nvPr/>
        </p:nvSpPr>
        <p:spPr>
          <a:xfrm>
            <a:off x="2487168" y="5394960"/>
            <a:ext cx="1700784" cy="603504"/>
          </a:xfrm>
          <a:prstGeom prst="roundRect">
            <a:avLst>
              <a:gd name="adj" fmla="val 16667"/>
            </a:avLst>
          </a:prstGeom>
          <a:solidFill>
            <a:srgbClr val="132A42"/>
          </a:solidFill>
          <a:ln w="15240">
            <a:solidFill>
              <a:srgbClr val="25425E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2596896" y="5532120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2852928" y="5477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this is for</a:t>
            </a:r>
            <a:endParaRPr lang="en-US" sz="820" dirty="0"/>
          </a:p>
        </p:txBody>
      </p:sp>
      <p:sp>
        <p:nvSpPr>
          <p:cNvPr id="67" name="Shape 64"/>
          <p:cNvSpPr/>
          <p:nvPr/>
        </p:nvSpPr>
        <p:spPr>
          <a:xfrm>
            <a:off x="4407408" y="5394960"/>
            <a:ext cx="1700784" cy="603504"/>
          </a:xfrm>
          <a:prstGeom prst="roundRect">
            <a:avLst>
              <a:gd name="adj" fmla="val 16667"/>
            </a:avLst>
          </a:prstGeom>
          <a:solidFill>
            <a:srgbClr val="132A42"/>
          </a:solidFill>
          <a:ln w="15240">
            <a:solidFill>
              <a:srgbClr val="25425E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517136" y="5532120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4773168" y="5477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20-minute plan</a:t>
            </a:r>
            <a:endParaRPr lang="en-US" sz="820" dirty="0"/>
          </a:p>
        </p:txBody>
      </p:sp>
      <p:sp>
        <p:nvSpPr>
          <p:cNvPr id="70" name="Shape 67"/>
          <p:cNvSpPr/>
          <p:nvPr/>
        </p:nvSpPr>
        <p:spPr>
          <a:xfrm>
            <a:off x="6327648" y="5394960"/>
            <a:ext cx="1700784" cy="603504"/>
          </a:xfrm>
          <a:prstGeom prst="roundRect">
            <a:avLst>
              <a:gd name="adj" fmla="val 16667"/>
            </a:avLst>
          </a:prstGeom>
          <a:solidFill>
            <a:srgbClr val="132A42"/>
          </a:solidFill>
          <a:ln w="15240">
            <a:solidFill>
              <a:srgbClr val="25425E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437376" y="5532120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50" dirty="0"/>
          </a:p>
        </p:txBody>
      </p:sp>
      <p:sp>
        <p:nvSpPr>
          <p:cNvPr id="72" name="Text 69"/>
          <p:cNvSpPr/>
          <p:nvPr/>
        </p:nvSpPr>
        <p:spPr>
          <a:xfrm>
            <a:off x="6693408" y="5477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Beginner vs busy-pro</a:t>
            </a:r>
            <a:endParaRPr lang="en-US" sz="820" dirty="0"/>
          </a:p>
        </p:txBody>
      </p:sp>
      <p:sp>
        <p:nvSpPr>
          <p:cNvPr id="73" name="Shape 70"/>
          <p:cNvSpPr/>
          <p:nvPr/>
        </p:nvSpPr>
        <p:spPr>
          <a:xfrm>
            <a:off x="8247888" y="5394960"/>
            <a:ext cx="1700784" cy="603504"/>
          </a:xfrm>
          <a:prstGeom prst="roundRect">
            <a:avLst>
              <a:gd name="adj" fmla="val 16667"/>
            </a:avLst>
          </a:prstGeom>
          <a:solidFill>
            <a:srgbClr val="132A42"/>
          </a:solidFill>
          <a:ln w="15240">
            <a:solidFill>
              <a:srgbClr val="25425E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357616" y="5532120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8613648" y="5477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NOT to post</a:t>
            </a:r>
            <a:endParaRPr lang="en-US" sz="820" dirty="0"/>
          </a:p>
        </p:txBody>
      </p:sp>
      <p:sp>
        <p:nvSpPr>
          <p:cNvPr id="76" name="Text 73"/>
          <p:cNvSpPr/>
          <p:nvPr/>
        </p:nvSpPr>
        <p:spPr>
          <a:xfrm>
            <a:off x="530352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· SCORES CALCULATED FROM REPOSITORY FORMULAS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520440" cy="3246120"/>
          </a:xfrm>
          <a:prstGeom prst="ellipse">
            <a:avLst/>
          </a:prstGeom>
          <a:solidFill>
            <a:srgbClr val="2FB5FF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7232" y="4590288"/>
            <a:ext cx="2331720" cy="2267712"/>
          </a:xfrm>
          <a:prstGeom prst="ellipse">
            <a:avLst/>
          </a:prstGeom>
          <a:solidFill>
            <a:srgbClr val="FFC857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329184"/>
            <a:ext cx="11365992" cy="0"/>
          </a:xfrm>
          <a:prstGeom prst="line">
            <a:avLst/>
          </a:prstGeom>
          <a:noFill/>
          <a:ln w="12700">
            <a:solidFill>
              <a:srgbClr val="2542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912" y="10972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005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THUNDER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874520" y="10972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GO-TO-MARKET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292840" y="914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30352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creators who already have the data.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48640" y="129844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wedge is not “all businesses.” It is comment-rich LinkedIn and Instagram educators who publish repeatedly and cannot afford public misfires.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1856232"/>
            <a:ext cx="3090672" cy="3639312"/>
          </a:xfrm>
          <a:prstGeom prst="roundRect">
            <a:avLst>
              <a:gd name="adj" fmla="val 3254"/>
            </a:avLst>
          </a:prstGeom>
          <a:solidFill>
            <a:srgbClr val="0E2033"/>
          </a:solidFill>
          <a:ln w="15240">
            <a:solidFill>
              <a:srgbClr val="61E7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2084832"/>
            <a:ext cx="1060704" cy="310896"/>
          </a:xfrm>
          <a:prstGeom prst="roundRect">
            <a:avLst>
              <a:gd name="adj" fmla="val 23529"/>
            </a:avLst>
          </a:prstGeom>
          <a:solidFill>
            <a:srgbClr val="0B1728"/>
          </a:solidFill>
          <a:ln w="12700">
            <a:solidFill>
              <a:srgbClr val="61E7FF">
                <a:alpha val="5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0392" y="21488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BEACHHEAD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77240" y="2542032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 + Instagram educators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7240" y="3090672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10k-100k followers · high-comment posts · no dedicated analyst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86384" y="3803904"/>
            <a:ext cx="73152" cy="73152"/>
          </a:xfrm>
          <a:prstGeom prst="ellipse">
            <a:avLst/>
          </a:prstGeom>
          <a:solidFill>
            <a:srgbClr val="61E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0976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and productivity creators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786384" y="4279392"/>
            <a:ext cx="73152" cy="7315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0976" y="420624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educators and founders</a:t>
            </a:r>
            <a:endParaRPr lang="en-US" sz="1040" dirty="0"/>
          </a:p>
        </p:txBody>
      </p:sp>
      <p:sp>
        <p:nvSpPr>
          <p:cNvPr id="21" name="Shape 18"/>
          <p:cNvSpPr/>
          <p:nvPr/>
        </p:nvSpPr>
        <p:spPr>
          <a:xfrm>
            <a:off x="786384" y="4754880"/>
            <a:ext cx="73152" cy="73152"/>
          </a:xfrm>
          <a:prstGeom prst="ellipse">
            <a:avLst/>
          </a:prstGeom>
          <a:solidFill>
            <a:srgbClr val="5FE0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50976" y="46817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 agencies managing multiple voices</a:t>
            </a:r>
            <a:endParaRPr lang="en-US" sz="1040" dirty="0"/>
          </a:p>
        </p:txBody>
      </p:sp>
      <p:sp>
        <p:nvSpPr>
          <p:cNvPr id="23" name="Text 20"/>
          <p:cNvSpPr/>
          <p:nvPr/>
        </p:nvSpPr>
        <p:spPr>
          <a:xfrm>
            <a:off x="4005072" y="19385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90-DAY VALIDATION PLAN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005072" y="2322576"/>
            <a:ext cx="4251960" cy="758952"/>
          </a:xfrm>
          <a:prstGeom prst="roundRect">
            <a:avLst>
              <a:gd name="adj" fmla="val 13253"/>
            </a:avLst>
          </a:prstGeom>
          <a:solidFill>
            <a:srgbClr val="0B1728"/>
          </a:solidFill>
          <a:ln w="15240">
            <a:solidFill>
              <a:srgbClr val="61E7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87952" y="248716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99432" y="2441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design partners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272784" y="24414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3 pre-flight tests per creator each week.</a:t>
            </a:r>
            <a:endParaRPr lang="en-US" sz="930" dirty="0"/>
          </a:p>
        </p:txBody>
      </p:sp>
      <p:sp>
        <p:nvSpPr>
          <p:cNvPr id="28" name="Shape 25"/>
          <p:cNvSpPr/>
          <p:nvPr/>
        </p:nvSpPr>
        <p:spPr>
          <a:xfrm>
            <a:off x="4005072" y="3300984"/>
            <a:ext cx="4251960" cy="758952"/>
          </a:xfrm>
          <a:prstGeom prst="roundRect">
            <a:avLst>
              <a:gd name="adj" fmla="val 13253"/>
            </a:avLst>
          </a:prstGeom>
          <a:solidFill>
            <a:srgbClr val="0B1728"/>
          </a:solidFill>
          <a:ln w="15240">
            <a:solidFill>
              <a:srgbClr val="25425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87952" y="346557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599432" y="341985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acceptance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6272784" y="341985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which recommendations creators keep or reject.</a:t>
            </a:r>
            <a:endParaRPr lang="en-US" sz="930" dirty="0"/>
          </a:p>
        </p:txBody>
      </p:sp>
      <p:sp>
        <p:nvSpPr>
          <p:cNvPr id="32" name="Shape 29"/>
          <p:cNvSpPr/>
          <p:nvPr/>
        </p:nvSpPr>
        <p:spPr>
          <a:xfrm>
            <a:off x="4005072" y="4279392"/>
            <a:ext cx="4251960" cy="758952"/>
          </a:xfrm>
          <a:prstGeom prst="roundRect">
            <a:avLst>
              <a:gd name="adj" fmla="val 13253"/>
            </a:avLst>
          </a:prstGeom>
          <a:solidFill>
            <a:srgbClr val="0B1728"/>
          </a:solidFill>
          <a:ln w="15240">
            <a:solidFill>
              <a:srgbClr val="25425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87952" y="444398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599432" y="439826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outcomes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6272784" y="439826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each creator’s own save/comment baseline after publishing.</a:t>
            </a:r>
            <a:endParaRPr lang="en-US" sz="930" dirty="0"/>
          </a:p>
        </p:txBody>
      </p:sp>
      <p:sp>
        <p:nvSpPr>
          <p:cNvPr id="36" name="Shape 33"/>
          <p:cNvSpPr/>
          <p:nvPr/>
        </p:nvSpPr>
        <p:spPr>
          <a:xfrm>
            <a:off x="8577072" y="1856232"/>
            <a:ext cx="3026664" cy="3639312"/>
          </a:xfrm>
          <a:prstGeom prst="roundRect">
            <a:avLst>
              <a:gd name="adj" fmla="val 3323"/>
            </a:avLst>
          </a:prstGeom>
          <a:solidFill>
            <a:srgbClr val="0E2033"/>
          </a:solidFill>
          <a:ln w="15240">
            <a:solidFill>
              <a:srgbClr val="FFC85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805672" y="2084832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271F14"/>
          </a:solidFill>
          <a:ln w="12700">
            <a:solidFill>
              <a:srgbClr val="FFC857">
                <a:alpha val="55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878824" y="2148840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8805672" y="25968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9601200" y="2615184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tests / month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8805672" y="2953512"/>
            <a:ext cx="2523744" cy="0"/>
          </a:xfrm>
          <a:prstGeom prst="line">
            <a:avLst/>
          </a:prstGeom>
          <a:noFill/>
          <a:ln w="12700">
            <a:solidFill>
              <a:srgbClr val="25425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805672" y="31546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9601200" y="3163824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 / month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8805672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Unlimited tests + history + assets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8805672" y="3913632"/>
            <a:ext cx="2523744" cy="0"/>
          </a:xfrm>
          <a:prstGeom prst="line">
            <a:avLst/>
          </a:prstGeom>
          <a:noFill/>
          <a:ln w="12700">
            <a:solidFill>
              <a:srgbClr val="25425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805672" y="4114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Studio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9601200" y="4123944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$99 / month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8805672" y="44348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brands + approvals + n8n workflows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8805672" y="4956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5FE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METRIC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805672" y="5212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tests / week + accepted edits + lift vs creator baseline</a:t>
            </a:r>
            <a:endParaRPr lang="en-US" sz="960" dirty="0"/>
          </a:p>
        </p:txBody>
      </p:sp>
      <p:sp>
        <p:nvSpPr>
          <p:cNvPr id="51" name="Text 48"/>
          <p:cNvSpPr/>
          <p:nvPr/>
        </p:nvSpPr>
        <p:spPr>
          <a:xfrm>
            <a:off x="4005072" y="55961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Would I use it myself?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5577840" y="553212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 — for technical and career content before publishing on LinkedIn.</a:t>
            </a:r>
            <a:endParaRPr lang="en-US" sz="1230" dirty="0"/>
          </a:p>
        </p:txBody>
      </p:sp>
      <p:sp>
        <p:nvSpPr>
          <p:cNvPr id="53" name="Text 50"/>
          <p:cNvSpPr/>
          <p:nvPr/>
        </p:nvSpPr>
        <p:spPr>
          <a:xfrm>
            <a:off x="530352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CURSOR HACKATHON STUTTGART ·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520440" cy="3246120"/>
          </a:xfrm>
          <a:prstGeom prst="ellipse">
            <a:avLst/>
          </a:prstGeom>
          <a:solidFill>
            <a:srgbClr val="2FB5FF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7232" y="4590288"/>
            <a:ext cx="2331720" cy="2267712"/>
          </a:xfrm>
          <a:prstGeom prst="ellipse">
            <a:avLst/>
          </a:prstGeom>
          <a:solidFill>
            <a:srgbClr val="FFC857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329184"/>
            <a:ext cx="11365992" cy="0"/>
          </a:xfrm>
          <a:prstGeom prst="line">
            <a:avLst/>
          </a:prstGeom>
          <a:noFill/>
          <a:ln w="12700">
            <a:solidFill>
              <a:srgbClr val="2542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912" y="10972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1005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THUNDER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874520" y="10972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 / WHY ME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292840" y="914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30352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generation is abundant. Audience understanding is scarce.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48640" y="129844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Thunder turns the creator’s own comment history into a private rehearsal environment — before the public decides.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1874520"/>
            <a:ext cx="3246120" cy="3063240"/>
          </a:xfrm>
          <a:prstGeom prst="roundRect">
            <a:avLst>
              <a:gd name="adj" fmla="val 3284"/>
            </a:avLst>
          </a:prstGeom>
          <a:solidFill>
            <a:srgbClr val="0E2033"/>
          </a:solidFill>
          <a:ln w="15240">
            <a:solidFill>
              <a:srgbClr val="61E7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2084832"/>
            <a:ext cx="941832" cy="310896"/>
          </a:xfrm>
          <a:prstGeom prst="roundRect">
            <a:avLst>
              <a:gd name="adj" fmla="val 23529"/>
            </a:avLst>
          </a:prstGeom>
          <a:solidFill>
            <a:srgbClr val="0B1728"/>
          </a:solidFill>
          <a:ln w="12700">
            <a:solidFill>
              <a:srgbClr val="61E7FF">
                <a:alpha val="5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0392" y="214884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77240" y="2578608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has made content cheap.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77240" y="299008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Trust, fit, and distinctiveness are now the bottleneck.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786384" y="3776472"/>
            <a:ext cx="73152" cy="73152"/>
          </a:xfrm>
          <a:prstGeom prst="ellipse">
            <a:avLst/>
          </a:prstGeom>
          <a:solidFill>
            <a:srgbClr val="61E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0976" y="3703320"/>
            <a:ext cx="2441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established creator already owns years of audience comments.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786384" y="4325112"/>
            <a:ext cx="73152" cy="7315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0976" y="4251960"/>
            <a:ext cx="2441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Generative tools optimize output; Thunder optimizes interpretation.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069080" y="1874520"/>
            <a:ext cx="3822192" cy="3063240"/>
          </a:xfrm>
          <a:prstGeom prst="roundRect">
            <a:avLst>
              <a:gd name="adj" fmla="val 3284"/>
            </a:avLst>
          </a:prstGeom>
          <a:solidFill>
            <a:srgbClr val="0B1728"/>
          </a:solidFill>
          <a:ln w="15240">
            <a:solidFill>
              <a:srgbClr val="FFC85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97680" y="2084832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271F14"/>
          </a:solidFill>
          <a:ln w="12700">
            <a:solidFill>
              <a:srgbClr val="FFC857">
                <a:alpha val="5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70832" y="21488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ME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297680" y="2560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Harshvardhan Joshi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4297680" y="2962656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builder · M.Sc. Data Science · software + AI engineering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306824" y="3685032"/>
            <a:ext cx="73152" cy="73152"/>
          </a:xfrm>
          <a:prstGeom prst="ellipse">
            <a:avLst/>
          </a:prstGeom>
          <a:solidFill>
            <a:srgbClr val="61E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71416" y="3611880"/>
            <a:ext cx="2944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Backend, automation, and production software experience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306824" y="4160520"/>
            <a:ext cx="73152" cy="7315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71416" y="4087368"/>
            <a:ext cx="2944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 work with LLM agents and robust validation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306824" y="4636008"/>
            <a:ext cx="73152" cy="73152"/>
          </a:xfrm>
          <a:prstGeom prst="ellipse">
            <a:avLst/>
          </a:prstGeom>
          <a:solidFill>
            <a:srgbClr val="5FE0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471416" y="4562856"/>
            <a:ext cx="2944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the working vertical slice as a one-person team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156448" y="1874520"/>
            <a:ext cx="3447288" cy="3063240"/>
          </a:xfrm>
          <a:prstGeom prst="roundRect">
            <a:avLst>
              <a:gd name="adj" fmla="val 3284"/>
            </a:avLst>
          </a:prstGeom>
          <a:solidFill>
            <a:srgbClr val="0E2033"/>
          </a:solidFill>
          <a:ln w="15240">
            <a:solidFill>
              <a:srgbClr val="5FE0A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385048" y="2084832"/>
            <a:ext cx="969264" cy="310896"/>
          </a:xfrm>
          <a:prstGeom prst="roundRect">
            <a:avLst>
              <a:gd name="adj" fmla="val 23529"/>
            </a:avLst>
          </a:prstGeom>
          <a:solidFill>
            <a:srgbClr val="0C251E"/>
          </a:solidFill>
          <a:ln w="12700">
            <a:solidFill>
              <a:srgbClr val="5FE0A5">
                <a:alpha val="55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58200" y="21488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E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8375904" y="2542032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0B1728"/>
          </a:solidFill>
          <a:ln w="12700">
            <a:solidFill>
              <a:srgbClr val="61E7FF">
                <a:alpha val="55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449056" y="2606040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Cursor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9820656" y="2542032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0B1728"/>
          </a:solidFill>
          <a:ln w="12700">
            <a:solidFill>
              <a:srgbClr val="FFC857">
                <a:alpha val="55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893808" y="2606040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8375904" y="2980944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0B1728"/>
          </a:solidFill>
          <a:ln w="12700">
            <a:solidFill>
              <a:srgbClr val="5FE0A5">
                <a:alpha val="55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449056" y="3044952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E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9820656" y="2980944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0B1728"/>
          </a:solidFill>
          <a:ln w="12700">
            <a:solidFill>
              <a:srgbClr val="61E7FF">
                <a:alpha val="55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893808" y="3044952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/ fal.ai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8375904" y="3419856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0B1728"/>
          </a:solidFill>
          <a:ln w="12700">
            <a:solidFill>
              <a:srgbClr val="FFC857">
                <a:alpha val="55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449056" y="348386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n8n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9820656" y="3419856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0B1728"/>
          </a:solidFill>
          <a:ln w="12700">
            <a:solidFill>
              <a:srgbClr val="5FE0A5">
                <a:alpha val="55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893808" y="348386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E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Firecrawl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8375904" y="3858768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0B1728"/>
          </a:solidFill>
          <a:ln w="12700">
            <a:solidFill>
              <a:srgbClr val="61E7FF">
                <a:alpha val="5500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449056" y="3922776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ElevenLabs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9820656" y="3858768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0B1728"/>
          </a:solidFill>
          <a:ln w="12700">
            <a:solidFill>
              <a:srgbClr val="FFC857">
                <a:alpha val="5500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893808" y="3922776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8394192" y="442569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repository</a:t>
            </a:r>
            <a:endParaRPr lang="en-US" sz="800" dirty="0"/>
          </a:p>
        </p:txBody>
      </p:sp>
      <p:pic>
        <p:nvPicPr>
          <p:cNvPr id="52" name="Image 1" descr="/mnt/data/thunder_submission/assets/github_q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4233672"/>
            <a:ext cx="877824" cy="877824"/>
          </a:xfrm>
          <a:prstGeom prst="rect">
            <a:avLst/>
          </a:prstGeom>
        </p:spPr>
      </p:pic>
      <p:sp>
        <p:nvSpPr>
          <p:cNvPr id="53" name="Text 49"/>
          <p:cNvSpPr/>
          <p:nvPr/>
        </p:nvSpPr>
        <p:spPr>
          <a:xfrm>
            <a:off x="8394192" y="4681728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harshjoshi23 / Thunder</a:t>
            </a:r>
            <a:endParaRPr lang="en-US" sz="820" dirty="0"/>
          </a:p>
        </p:txBody>
      </p:sp>
      <p:sp>
        <p:nvSpPr>
          <p:cNvPr id="54" name="Shape 50"/>
          <p:cNvSpPr/>
          <p:nvPr/>
        </p:nvSpPr>
        <p:spPr>
          <a:xfrm>
            <a:off x="566928" y="5285232"/>
            <a:ext cx="11036808" cy="841248"/>
          </a:xfrm>
          <a:prstGeom prst="roundRect">
            <a:avLst>
              <a:gd name="adj" fmla="val 11957"/>
            </a:avLst>
          </a:prstGeom>
          <a:solidFill>
            <a:srgbClr val="0E2B38"/>
          </a:solidFill>
          <a:ln w="15240">
            <a:solidFill>
              <a:srgbClr val="61E7FF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804672" y="5532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61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</a:t>
            </a:r>
            <a:endParaRPr lang="en-US" sz="850" dirty="0"/>
          </a:p>
        </p:txBody>
      </p:sp>
      <p:sp>
        <p:nvSpPr>
          <p:cNvPr id="56" name="Text 52"/>
          <p:cNvSpPr/>
          <p:nvPr/>
        </p:nvSpPr>
        <p:spPr>
          <a:xfrm>
            <a:off x="1755648" y="5449824"/>
            <a:ext cx="9372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with 20 creators. If repeated pre-flight testing improves their confidence and outcomes, I would keep building Thunder.</a:t>
            </a:r>
            <a:endParaRPr lang="en-US" sz="1400" dirty="0"/>
          </a:p>
        </p:txBody>
      </p:sp>
      <p:sp>
        <p:nvSpPr>
          <p:cNvPr id="57" name="Text 53"/>
          <p:cNvSpPr/>
          <p:nvPr/>
        </p:nvSpPr>
        <p:spPr>
          <a:xfrm>
            <a:off x="530352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F84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THUNDER · TEST YOUR POST BEFORE YOUR AUDIENCE DOES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Thunder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Thunder - Test your post before your audience does</dc:title>
  <dc:subject>Thunder pitch deck</dc:subject>
  <dc:creator>Harshvardhan Joshi</dc:creator>
  <cp:lastModifiedBy>Harshvardhan Joshi</cp:lastModifiedBy>
  <cp:revision>1</cp:revision>
  <dcterms:created xsi:type="dcterms:W3CDTF">2026-07-25T13:27:05Z</dcterms:created>
  <dcterms:modified xsi:type="dcterms:W3CDTF">2026-07-25T13:27:05Z</dcterms:modified>
</cp:coreProperties>
</file>